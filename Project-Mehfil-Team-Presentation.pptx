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61520" cy="6858000"/>
  <p:notesSz cx="6858000" cy="1216152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8B2E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8B2E23"/>
          </a:solidFill>
          <a:ln/>
        </p:spPr>
      </p:sp>
      <p:sp>
        <p:nvSpPr>
          <p:cNvPr id="3" name="Shape 1"/>
          <p:cNvSpPr/>
          <p:nvPr/>
        </p:nvSpPr>
        <p:spPr>
          <a:xfrm>
            <a:off x="9692640" y="-1645920"/>
            <a:ext cx="4572000" cy="4572000"/>
          </a:xfrm>
          <a:prstGeom prst="ellipse">
            <a:avLst/>
          </a:prstGeom>
          <a:solidFill>
            <a:srgbClr val="5C1E17"/>
          </a:solidFill>
          <a:ln/>
        </p:spPr>
      </p:sp>
      <p:sp>
        <p:nvSpPr>
          <p:cNvPr id="4" name="Shape 2"/>
          <p:cNvSpPr/>
          <p:nvPr/>
        </p:nvSpPr>
        <p:spPr>
          <a:xfrm>
            <a:off x="-1371600" y="4754880"/>
            <a:ext cx="3657600" cy="3657600"/>
          </a:xfrm>
          <a:prstGeom prst="ellipse">
            <a:avLst/>
          </a:prstGeom>
          <a:solidFill>
            <a:srgbClr val="5C1E17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2377440"/>
            <a:ext cx="11064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MEHFIL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548640" y="3200400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E8C7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immersive, retro-poster-art ambient vibe app rooted in Indian culture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48640" y="60350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C7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Planning Presentation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8B2E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Inspiration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371600"/>
            <a:ext cx="5394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B21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saloon.wtf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1965960"/>
            <a:ext cx="539496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6B5D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illustrated Indian barbershop, playing 90s Bollywood evergreen songs on loop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6B5D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"X online" counter — feels shared, not solitary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6B5D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bottom player bar (Spotify-powered)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6B5D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Grainy, flat vector, retro poster-style art — sets mood instantly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0" y="1371600"/>
            <a:ext cx="5212080" cy="4206240"/>
          </a:xfrm>
          <a:prstGeom prst="roundRect">
            <a:avLst>
              <a:gd name="adj" fmla="val 2609"/>
            </a:avLst>
          </a:prstGeom>
          <a:solidFill>
            <a:srgbClr val="2B2117"/>
          </a:solidFill>
          <a:ln/>
        </p:spPr>
      </p:sp>
      <p:sp>
        <p:nvSpPr>
          <p:cNvPr id="6" name="Text 4"/>
          <p:cNvSpPr/>
          <p:nvPr/>
        </p:nvSpPr>
        <p:spPr>
          <a:xfrm>
            <a:off x="6766560" y="16459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98A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we're borrowing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766560" y="2194560"/>
            <a:ext cx="448056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F7F5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illustrated 'place' = one instant mood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F7F5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Ambient, always-on — not a music player, a radio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F7F5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presence — feels alive, not lonely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F7F5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Subtle motion over loud UI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8B2E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Concept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9728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5D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continuous, subtle, minimal app. Users don't pick a genre from a menu — they "tune into" a place, and the illustrated scene, ambient motion, and music all shift together.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2103120"/>
            <a:ext cx="2651760" cy="3566160"/>
          </a:xfrm>
          <a:prstGeom prst="roundRect">
            <a:avLst>
              <a:gd name="adj" fmla="val 3448"/>
            </a:avLst>
          </a:prstGeom>
          <a:solidFill>
            <a:srgbClr val="F7F5F2"/>
          </a:solidFill>
          <a:ln w="12700">
            <a:solidFill>
              <a:srgbClr val="E5DED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2377440"/>
            <a:ext cx="502920" cy="502920"/>
          </a:xfrm>
          <a:prstGeom prst="ellipse">
            <a:avLst/>
          </a:prstGeom>
          <a:solidFill>
            <a:srgbClr val="C98A2C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23774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31520" y="306324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B21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World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31520" y="3520440"/>
            <a:ext cx="228600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5D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scene shares a consistent color grade &amp; art style — feels like one app, not 12 random skins.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429000" y="2103120"/>
            <a:ext cx="2651760" cy="3566160"/>
          </a:xfrm>
          <a:prstGeom prst="roundRect">
            <a:avLst>
              <a:gd name="adj" fmla="val 3448"/>
            </a:avLst>
          </a:prstGeom>
          <a:solidFill>
            <a:srgbClr val="F7F5F2"/>
          </a:solidFill>
          <a:ln w="12700">
            <a:solidFill>
              <a:srgbClr val="E5DED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657600" y="2377440"/>
            <a:ext cx="502920" cy="502920"/>
          </a:xfrm>
          <a:prstGeom prst="ellipse">
            <a:avLst/>
          </a:prstGeom>
          <a:solidFill>
            <a:srgbClr val="C98A2C"/>
          </a:solidFill>
          <a:ln/>
        </p:spPr>
      </p:sp>
      <p:sp>
        <p:nvSpPr>
          <p:cNvPr id="11" name="Text 9"/>
          <p:cNvSpPr/>
          <p:nvPr/>
        </p:nvSpPr>
        <p:spPr>
          <a:xfrm>
            <a:off x="3657600" y="23774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3611880" y="306324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B21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Radio, not Player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611880" y="3520440"/>
            <a:ext cx="228600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5D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skip, no seek, no track picking. Just mute/unmute. Feels like tuning a real radio.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309360" y="2103120"/>
            <a:ext cx="2651760" cy="3566160"/>
          </a:xfrm>
          <a:prstGeom prst="roundRect">
            <a:avLst>
              <a:gd name="adj" fmla="val 3448"/>
            </a:avLst>
          </a:prstGeom>
          <a:solidFill>
            <a:srgbClr val="F7F5F2"/>
          </a:solidFill>
          <a:ln w="12700">
            <a:solidFill>
              <a:srgbClr val="E5DED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537960" y="2377440"/>
            <a:ext cx="502920" cy="502920"/>
          </a:xfrm>
          <a:prstGeom prst="ellipse">
            <a:avLst/>
          </a:prstGeom>
          <a:solidFill>
            <a:srgbClr val="C98A2C"/>
          </a:solidFill>
          <a:ln/>
        </p:spPr>
      </p:sp>
      <p:sp>
        <p:nvSpPr>
          <p:cNvPr id="16" name="Text 14"/>
          <p:cNvSpPr/>
          <p:nvPr/>
        </p:nvSpPr>
        <p:spPr>
          <a:xfrm>
            <a:off x="6537960" y="23774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6492240" y="306324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B21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Alive, not Static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492240" y="3520440"/>
            <a:ext cx="228600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5D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Subtle Ken Burns zoom + one small looping detail (steam, smoke, sway) per scene.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9189720" y="2103120"/>
            <a:ext cx="2651760" cy="3566160"/>
          </a:xfrm>
          <a:prstGeom prst="roundRect">
            <a:avLst>
              <a:gd name="adj" fmla="val 3448"/>
            </a:avLst>
          </a:prstGeom>
          <a:solidFill>
            <a:srgbClr val="F7F5F2"/>
          </a:solidFill>
          <a:ln w="12700">
            <a:solidFill>
              <a:srgbClr val="E5DED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418320" y="2377440"/>
            <a:ext cx="502920" cy="502920"/>
          </a:xfrm>
          <a:prstGeom prst="ellipse">
            <a:avLst/>
          </a:prstGeom>
          <a:solidFill>
            <a:srgbClr val="C98A2C"/>
          </a:solidFill>
          <a:ln/>
        </p:spPr>
      </p:sp>
      <p:sp>
        <p:nvSpPr>
          <p:cNvPr id="21" name="Text 19"/>
          <p:cNvSpPr/>
          <p:nvPr/>
        </p:nvSpPr>
        <p:spPr>
          <a:xfrm>
            <a:off x="9418320" y="23774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9372600" y="306324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B21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Shared Presence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9372600" y="3520440"/>
            <a:ext cx="228600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5D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live 'X online' counter makes it feel communal, not solitary.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2B2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98A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Visual Identity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E8C7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Flat vector illustration · risograph grain · retro Indian poster art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1280160" cy="1280160"/>
          </a:xfrm>
          <a:prstGeom prst="roundRect">
            <a:avLst>
              <a:gd name="adj" fmla="val 10714"/>
            </a:avLst>
          </a:prstGeom>
          <a:solidFill>
            <a:srgbClr val="8B2E2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320040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Brick Red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103120" y="1828800"/>
            <a:ext cx="1280160" cy="1280160"/>
          </a:xfrm>
          <a:prstGeom prst="roundRect">
            <a:avLst>
              <a:gd name="adj" fmla="val 10714"/>
            </a:avLst>
          </a:prstGeom>
          <a:solidFill>
            <a:srgbClr val="C98A2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965960" y="320040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Mustard Gold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657600" y="1828800"/>
            <a:ext cx="1280160" cy="1280160"/>
          </a:xfrm>
          <a:prstGeom prst="roundRect">
            <a:avLst>
              <a:gd name="adj" fmla="val 10714"/>
            </a:avLst>
          </a:prstGeom>
          <a:solidFill>
            <a:srgbClr val="2B2117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520440" y="320040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Charcoal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212080" y="1828800"/>
            <a:ext cx="1280160" cy="1280160"/>
          </a:xfrm>
          <a:prstGeom prst="roundRect">
            <a:avLst>
              <a:gd name="adj" fmla="val 10714"/>
            </a:avLst>
          </a:prstGeom>
          <a:solidFill>
            <a:srgbClr val="F7F5F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74920" y="320040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Warm Off-White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48640" y="39319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98A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Design principles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48640" y="4389120"/>
            <a:ext cx="1078992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7F5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4-6 colors per scene, always from one shared palette logic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7F5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hand-drawn / Devanagari-inspired font for vibe names — used sparingly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7F5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Minimal UI chrome — icons only, no heavy buttons or labels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7F5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Inspired by vintage Bollywood hand-painted posters &amp; retro advertising art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8B2E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12 Vibes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5D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vibe = a place + a mood + a music identity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2651760" cy="1554480"/>
          </a:xfrm>
          <a:prstGeom prst="roundRect">
            <a:avLst>
              <a:gd name="adj" fmla="val 4706"/>
            </a:avLst>
          </a:prstGeom>
          <a:solidFill>
            <a:srgbClr val="F7F5F2"/>
          </a:solidFill>
          <a:ln w="12700">
            <a:solidFill>
              <a:srgbClr val="E5DED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417320"/>
            <a:ext cx="73152" cy="1554480"/>
          </a:xfrm>
          <a:prstGeom prst="rect">
            <a:avLst/>
          </a:prstGeom>
          <a:solidFill>
            <a:srgbClr val="8B2E23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527048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B21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Nukkad Nights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31520" y="1984248"/>
            <a:ext cx="23317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B5D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Street corner · old Bollywood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364992" y="1417320"/>
            <a:ext cx="2651760" cy="1554480"/>
          </a:xfrm>
          <a:prstGeom prst="roundRect">
            <a:avLst>
              <a:gd name="adj" fmla="val 4706"/>
            </a:avLst>
          </a:prstGeom>
          <a:solidFill>
            <a:srgbClr val="F7F5F2"/>
          </a:solidFill>
          <a:ln w="12700">
            <a:solidFill>
              <a:srgbClr val="E5DED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364992" y="1417320"/>
            <a:ext cx="73152" cy="1554480"/>
          </a:xfrm>
          <a:prstGeom prst="rect">
            <a:avLst/>
          </a:prstGeom>
          <a:solidFill>
            <a:srgbClr val="C98A2C"/>
          </a:solidFill>
          <a:ln/>
        </p:spPr>
      </p:sp>
      <p:sp>
        <p:nvSpPr>
          <p:cNvPr id="10" name="Text 8"/>
          <p:cNvSpPr/>
          <p:nvPr/>
        </p:nvSpPr>
        <p:spPr>
          <a:xfrm>
            <a:off x="3547872" y="1527048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B21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Rickshaw Riot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547872" y="1984248"/>
            <a:ext cx="23317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B5D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City traffic · desi hip-hop/EDM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181344" y="1417320"/>
            <a:ext cx="2651760" cy="1554480"/>
          </a:xfrm>
          <a:prstGeom prst="roundRect">
            <a:avLst>
              <a:gd name="adj" fmla="val 4706"/>
            </a:avLst>
          </a:prstGeom>
          <a:solidFill>
            <a:srgbClr val="F7F5F2"/>
          </a:solidFill>
          <a:ln w="12700">
            <a:solidFill>
              <a:srgbClr val="E5DED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181344" y="1417320"/>
            <a:ext cx="73152" cy="1554480"/>
          </a:xfrm>
          <a:prstGeom prst="rect">
            <a:avLst/>
          </a:prstGeom>
          <a:solidFill>
            <a:srgbClr val="8B2E23"/>
          </a:solidFill>
          <a:ln/>
        </p:spPr>
      </p:sp>
      <p:sp>
        <p:nvSpPr>
          <p:cNvPr id="14" name="Text 12"/>
          <p:cNvSpPr/>
          <p:nvPr/>
        </p:nvSpPr>
        <p:spPr>
          <a:xfrm>
            <a:off x="6364224" y="1527048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B21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Chai Sutta Static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364224" y="1984248"/>
            <a:ext cx="23317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B5D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Tea-stall break · lo-fi/indie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8997696" y="1417320"/>
            <a:ext cx="2651760" cy="1554480"/>
          </a:xfrm>
          <a:prstGeom prst="roundRect">
            <a:avLst>
              <a:gd name="adj" fmla="val 4706"/>
            </a:avLst>
          </a:prstGeom>
          <a:solidFill>
            <a:srgbClr val="F7F5F2"/>
          </a:solidFill>
          <a:ln w="12700">
            <a:solidFill>
              <a:srgbClr val="E5DED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997696" y="1417320"/>
            <a:ext cx="73152" cy="1554480"/>
          </a:xfrm>
          <a:prstGeom prst="rect">
            <a:avLst/>
          </a:prstGeom>
          <a:solidFill>
            <a:srgbClr val="C98A2C"/>
          </a:solidFill>
          <a:ln/>
        </p:spPr>
      </p:sp>
      <p:sp>
        <p:nvSpPr>
          <p:cNvPr id="18" name="Text 16"/>
          <p:cNvSpPr/>
          <p:nvPr/>
        </p:nvSpPr>
        <p:spPr>
          <a:xfrm>
            <a:off x="9180576" y="1527048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B21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Baraat Bass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9180576" y="1984248"/>
            <a:ext cx="23317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B5D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Wedding procession · dhol + bass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48640" y="3136392"/>
            <a:ext cx="2651760" cy="1554480"/>
          </a:xfrm>
          <a:prstGeom prst="roundRect">
            <a:avLst>
              <a:gd name="adj" fmla="val 4706"/>
            </a:avLst>
          </a:prstGeom>
          <a:solidFill>
            <a:srgbClr val="F7F5F2"/>
          </a:solidFill>
          <a:ln w="12700">
            <a:solidFill>
              <a:srgbClr val="E5DED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48640" y="3136392"/>
            <a:ext cx="73152" cy="1554480"/>
          </a:xfrm>
          <a:prstGeom prst="rect">
            <a:avLst/>
          </a:prstGeom>
          <a:solidFill>
            <a:srgbClr val="8B2E23"/>
          </a:solidFill>
          <a:ln/>
        </p:spPr>
      </p:sp>
      <p:sp>
        <p:nvSpPr>
          <p:cNvPr id="22" name="Text 20"/>
          <p:cNvSpPr/>
          <p:nvPr/>
        </p:nvSpPr>
        <p:spPr>
          <a:xfrm>
            <a:off x="731520" y="3246120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B21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Gully Wreckage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31520" y="3703320"/>
            <a:ext cx="23317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B5D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Underground lane · raw rap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3364992" y="3136392"/>
            <a:ext cx="2651760" cy="1554480"/>
          </a:xfrm>
          <a:prstGeom prst="roundRect">
            <a:avLst>
              <a:gd name="adj" fmla="val 4706"/>
            </a:avLst>
          </a:prstGeom>
          <a:solidFill>
            <a:srgbClr val="F7F5F2"/>
          </a:solidFill>
          <a:ln w="12700">
            <a:solidFill>
              <a:srgbClr val="E5DED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364992" y="3136392"/>
            <a:ext cx="73152" cy="1554480"/>
          </a:xfrm>
          <a:prstGeom prst="rect">
            <a:avLst/>
          </a:prstGeom>
          <a:solidFill>
            <a:srgbClr val="C98A2C"/>
          </a:solidFill>
          <a:ln/>
        </p:spPr>
      </p:sp>
      <p:sp>
        <p:nvSpPr>
          <p:cNvPr id="26" name="Text 24"/>
          <p:cNvSpPr/>
          <p:nvPr/>
        </p:nvSpPr>
        <p:spPr>
          <a:xfrm>
            <a:off x="3547872" y="3246120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B21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Terrace Tandoor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3547872" y="3703320"/>
            <a:ext cx="23317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B5D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Rooftop grill · retro disco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6181344" y="3136392"/>
            <a:ext cx="2651760" cy="1554480"/>
          </a:xfrm>
          <a:prstGeom prst="roundRect">
            <a:avLst>
              <a:gd name="adj" fmla="val 4706"/>
            </a:avLst>
          </a:prstGeom>
          <a:solidFill>
            <a:srgbClr val="F7F5F2"/>
          </a:solidFill>
          <a:ln w="12700">
            <a:solidFill>
              <a:srgbClr val="E5DED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181344" y="3136392"/>
            <a:ext cx="73152" cy="1554480"/>
          </a:xfrm>
          <a:prstGeom prst="rect">
            <a:avLst/>
          </a:prstGeom>
          <a:solidFill>
            <a:srgbClr val="8B2E23"/>
          </a:solidFill>
          <a:ln/>
        </p:spPr>
      </p:sp>
      <p:sp>
        <p:nvSpPr>
          <p:cNvPr id="30" name="Text 28"/>
          <p:cNvSpPr/>
          <p:nvPr/>
        </p:nvSpPr>
        <p:spPr>
          <a:xfrm>
            <a:off x="6364224" y="3246120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B21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Dhaba Drift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6364224" y="3703320"/>
            <a:ext cx="23317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B5D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Highway stop · old rock/qawwali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8997696" y="3136392"/>
            <a:ext cx="2651760" cy="1554480"/>
          </a:xfrm>
          <a:prstGeom prst="roundRect">
            <a:avLst>
              <a:gd name="adj" fmla="val 4706"/>
            </a:avLst>
          </a:prstGeom>
          <a:solidFill>
            <a:srgbClr val="F7F5F2"/>
          </a:solidFill>
          <a:ln w="12700">
            <a:solidFill>
              <a:srgbClr val="E5DED6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8997696" y="3136392"/>
            <a:ext cx="73152" cy="1554480"/>
          </a:xfrm>
          <a:prstGeom prst="rect">
            <a:avLst/>
          </a:prstGeom>
          <a:solidFill>
            <a:srgbClr val="C98A2C"/>
          </a:solidFill>
          <a:ln/>
        </p:spPr>
      </p:sp>
      <p:sp>
        <p:nvSpPr>
          <p:cNvPr id="34" name="Text 32"/>
          <p:cNvSpPr/>
          <p:nvPr/>
        </p:nvSpPr>
        <p:spPr>
          <a:xfrm>
            <a:off x="9180576" y="3246120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B21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Mandi Mayhem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9180576" y="3703320"/>
            <a:ext cx="23317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B5D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market · folk + dhol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548640" y="4855464"/>
            <a:ext cx="2651760" cy="1554480"/>
          </a:xfrm>
          <a:prstGeom prst="roundRect">
            <a:avLst>
              <a:gd name="adj" fmla="val 4706"/>
            </a:avLst>
          </a:prstGeom>
          <a:solidFill>
            <a:srgbClr val="F7F5F2"/>
          </a:solidFill>
          <a:ln w="12700">
            <a:solidFill>
              <a:srgbClr val="E5DED6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48640" y="4855464"/>
            <a:ext cx="73152" cy="1554480"/>
          </a:xfrm>
          <a:prstGeom prst="rect">
            <a:avLst/>
          </a:prstGeom>
          <a:solidFill>
            <a:srgbClr val="8B2E23"/>
          </a:solidFill>
          <a:ln/>
        </p:spPr>
      </p:sp>
      <p:sp>
        <p:nvSpPr>
          <p:cNvPr id="38" name="Text 36"/>
          <p:cNvSpPr/>
          <p:nvPr/>
        </p:nvSpPr>
        <p:spPr>
          <a:xfrm>
            <a:off x="731520" y="4965192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B21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 Static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731520" y="5422392"/>
            <a:ext cx="23317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B5D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Rickshaw ride · FM static aesthetic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3364992" y="4855464"/>
            <a:ext cx="2651760" cy="1554480"/>
          </a:xfrm>
          <a:prstGeom prst="roundRect">
            <a:avLst>
              <a:gd name="adj" fmla="val 4706"/>
            </a:avLst>
          </a:prstGeom>
          <a:solidFill>
            <a:srgbClr val="F7F5F2"/>
          </a:solidFill>
          <a:ln w="12700">
            <a:solidFill>
              <a:srgbClr val="E5DED6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3364992" y="4855464"/>
            <a:ext cx="73152" cy="1554480"/>
          </a:xfrm>
          <a:prstGeom prst="rect">
            <a:avLst/>
          </a:prstGeom>
          <a:solidFill>
            <a:srgbClr val="C98A2C"/>
          </a:solidFill>
          <a:ln/>
        </p:spPr>
      </p:sp>
      <p:sp>
        <p:nvSpPr>
          <p:cNvPr id="42" name="Text 40"/>
          <p:cNvSpPr/>
          <p:nvPr/>
        </p:nvSpPr>
        <p:spPr>
          <a:xfrm>
            <a:off x="3547872" y="4965192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B21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Paan Shop Purgatory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3547872" y="5422392"/>
            <a:ext cx="23317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B5D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Late-night stall · 90s Bollywood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6181344" y="4855464"/>
            <a:ext cx="2651760" cy="1554480"/>
          </a:xfrm>
          <a:prstGeom prst="roundRect">
            <a:avLst>
              <a:gd name="adj" fmla="val 4706"/>
            </a:avLst>
          </a:prstGeom>
          <a:solidFill>
            <a:srgbClr val="F7F5F2"/>
          </a:solidFill>
          <a:ln w="12700">
            <a:solidFill>
              <a:srgbClr val="E5DED6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6181344" y="4855464"/>
            <a:ext cx="73152" cy="1554480"/>
          </a:xfrm>
          <a:prstGeom prst="rect">
            <a:avLst/>
          </a:prstGeom>
          <a:solidFill>
            <a:srgbClr val="8B2E23"/>
          </a:solidFill>
          <a:ln/>
        </p:spPr>
      </p:sp>
      <p:sp>
        <p:nvSpPr>
          <p:cNvPr id="46" name="Text 44"/>
          <p:cNvSpPr/>
          <p:nvPr/>
        </p:nvSpPr>
        <p:spPr>
          <a:xfrm>
            <a:off x="6364224" y="4965192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B21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Gabru Bass</a:t>
            </a:r>
            <a:endParaRPr lang="en-US" sz="1300" dirty="0"/>
          </a:p>
        </p:txBody>
      </p:sp>
      <p:sp>
        <p:nvSpPr>
          <p:cNvPr id="47" name="Text 45"/>
          <p:cNvSpPr/>
          <p:nvPr/>
        </p:nvSpPr>
        <p:spPr>
          <a:xfrm>
            <a:off x="6364224" y="5422392"/>
            <a:ext cx="23317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B5D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Punjabi hype · bhangra-pop/trap</a:t>
            </a:r>
            <a:endParaRPr lang="en-US" sz="1050" dirty="0"/>
          </a:p>
        </p:txBody>
      </p:sp>
      <p:sp>
        <p:nvSpPr>
          <p:cNvPr id="48" name="Shape 46"/>
          <p:cNvSpPr/>
          <p:nvPr/>
        </p:nvSpPr>
        <p:spPr>
          <a:xfrm>
            <a:off x="8997696" y="4855464"/>
            <a:ext cx="2651760" cy="1554480"/>
          </a:xfrm>
          <a:prstGeom prst="roundRect">
            <a:avLst>
              <a:gd name="adj" fmla="val 4706"/>
            </a:avLst>
          </a:prstGeom>
          <a:solidFill>
            <a:srgbClr val="F7F5F2"/>
          </a:solidFill>
          <a:ln w="12700">
            <a:solidFill>
              <a:srgbClr val="E5DED6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8997696" y="4855464"/>
            <a:ext cx="73152" cy="1554480"/>
          </a:xfrm>
          <a:prstGeom prst="rect">
            <a:avLst/>
          </a:prstGeom>
          <a:solidFill>
            <a:srgbClr val="C98A2C"/>
          </a:solidFill>
          <a:ln/>
        </p:spPr>
      </p:sp>
      <p:sp>
        <p:nvSpPr>
          <p:cNvPr id="50" name="Text 48"/>
          <p:cNvSpPr/>
          <p:nvPr/>
        </p:nvSpPr>
        <p:spPr>
          <a:xfrm>
            <a:off x="9180576" y="4965192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B21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Kasol Haze</a:t>
            </a:r>
            <a:endParaRPr lang="en-US" sz="1300" dirty="0"/>
          </a:p>
        </p:txBody>
      </p:sp>
      <p:sp>
        <p:nvSpPr>
          <p:cNvPr id="51" name="Text 49"/>
          <p:cNvSpPr/>
          <p:nvPr/>
        </p:nvSpPr>
        <p:spPr>
          <a:xfrm>
            <a:off x="9180576" y="5422392"/>
            <a:ext cx="23317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B5D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Himalayan rave · psytrance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8B2E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Making the Scene Feel Alive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5D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Subtle motion, not video — the illustration should breathe, not distract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349240" cy="2194560"/>
          </a:xfrm>
          <a:prstGeom prst="roundRect">
            <a:avLst>
              <a:gd name="adj" fmla="val 4167"/>
            </a:avLst>
          </a:prstGeom>
          <a:solidFill>
            <a:srgbClr val="F7F5F2"/>
          </a:solidFill>
          <a:ln w="12700">
            <a:solidFill>
              <a:srgbClr val="E5DED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783080"/>
            <a:ext cx="4892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B2E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Ken Burns Effect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77240" y="2240280"/>
            <a:ext cx="489204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B5D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 30–60s zoom/pan loop on the full background — barely perceptible, always on.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172200" y="1600200"/>
            <a:ext cx="5349240" cy="2194560"/>
          </a:xfrm>
          <a:prstGeom prst="roundRect">
            <a:avLst>
              <a:gd name="adj" fmla="val 4167"/>
            </a:avLst>
          </a:prstGeom>
          <a:solidFill>
            <a:srgbClr val="F7F5F2"/>
          </a:solidFill>
          <a:ln w="12700">
            <a:solidFill>
              <a:srgbClr val="E5DED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0" y="1783080"/>
            <a:ext cx="4892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B2E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Ambient Detail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400800" y="2240280"/>
            <a:ext cx="489204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B5D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looping layer per scene: steam from a chai cup, drifting smoke, a swaying curtain.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48640" y="4069080"/>
            <a:ext cx="5349240" cy="2194560"/>
          </a:xfrm>
          <a:prstGeom prst="roundRect">
            <a:avLst>
              <a:gd name="adj" fmla="val 4167"/>
            </a:avLst>
          </a:prstGeom>
          <a:solidFill>
            <a:srgbClr val="F7F5F2"/>
          </a:solidFill>
          <a:ln w="12700">
            <a:solidFill>
              <a:srgbClr val="E5DED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" y="4251960"/>
            <a:ext cx="4892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B2E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Grain Animation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777240" y="4709160"/>
            <a:ext cx="489204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B5D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Subtle shifting noise overlay mimics old film/TV texture — fits the retro aesthetic.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172200" y="4069080"/>
            <a:ext cx="5349240" cy="2194560"/>
          </a:xfrm>
          <a:prstGeom prst="roundRect">
            <a:avLst>
              <a:gd name="adj" fmla="val 4167"/>
            </a:avLst>
          </a:prstGeom>
          <a:solidFill>
            <a:srgbClr val="F7F5F2"/>
          </a:solidFill>
          <a:ln w="12700">
            <a:solidFill>
              <a:srgbClr val="E5DED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0" y="4251960"/>
            <a:ext cx="4892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B2E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Breathing Light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400800" y="4709160"/>
            <a:ext cx="489204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B5D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slow, gentle pulse in brightness/warmth — like a bulb flickering or light shifting.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2B2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98A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 Stack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3520440" cy="1371600"/>
          </a:xfrm>
          <a:prstGeom prst="roundRect">
            <a:avLst>
              <a:gd name="adj" fmla="val 6667"/>
            </a:avLst>
          </a:prstGeom>
          <a:solidFill>
            <a:srgbClr val="3A2E23"/>
          </a:solidFill>
          <a:ln/>
        </p:spPr>
      </p:sp>
      <p:sp>
        <p:nvSpPr>
          <p:cNvPr id="4" name="Text 2"/>
          <p:cNvSpPr/>
          <p:nvPr/>
        </p:nvSpPr>
        <p:spPr>
          <a:xfrm>
            <a:off x="777240" y="1627632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98A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Frontend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77240" y="2029968"/>
            <a:ext cx="30632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7F5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+ Vite + Tailwind CSS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4343400" y="1463040"/>
            <a:ext cx="3520440" cy="1371600"/>
          </a:xfrm>
          <a:prstGeom prst="roundRect">
            <a:avLst>
              <a:gd name="adj" fmla="val 6667"/>
            </a:avLst>
          </a:prstGeom>
          <a:solidFill>
            <a:srgbClr val="3A2E23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0" y="1627632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98A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Hosting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0" y="2029968"/>
            <a:ext cx="30632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7F5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Vercel / Cloudflare Pages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8138160" y="1463040"/>
            <a:ext cx="3520440" cy="1371600"/>
          </a:xfrm>
          <a:prstGeom prst="roundRect">
            <a:avLst>
              <a:gd name="adj" fmla="val 6667"/>
            </a:avLst>
          </a:prstGeom>
          <a:solidFill>
            <a:srgbClr val="3A2E23"/>
          </a:solidFill>
          <a:ln/>
        </p:spPr>
      </p:sp>
      <p:sp>
        <p:nvSpPr>
          <p:cNvPr id="10" name="Text 8"/>
          <p:cNvSpPr/>
          <p:nvPr/>
        </p:nvSpPr>
        <p:spPr>
          <a:xfrm>
            <a:off x="8366760" y="1627632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98A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Music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366760" y="2029968"/>
            <a:ext cx="30632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7F5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Spotify Web Playback SDK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48640" y="3108960"/>
            <a:ext cx="3520440" cy="1371600"/>
          </a:xfrm>
          <a:prstGeom prst="roundRect">
            <a:avLst>
              <a:gd name="adj" fmla="val 6667"/>
            </a:avLst>
          </a:prstGeom>
          <a:solidFill>
            <a:srgbClr val="3A2E23"/>
          </a:solidFill>
          <a:ln/>
        </p:spPr>
      </p:sp>
      <p:sp>
        <p:nvSpPr>
          <p:cNvPr id="13" name="Text 11"/>
          <p:cNvSpPr/>
          <p:nvPr/>
        </p:nvSpPr>
        <p:spPr>
          <a:xfrm>
            <a:off x="777240" y="3273552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98A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Live Presence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777240" y="3675888"/>
            <a:ext cx="30632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7F5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 Realtime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4343400" y="3108960"/>
            <a:ext cx="3520440" cy="1371600"/>
          </a:xfrm>
          <a:prstGeom prst="roundRect">
            <a:avLst>
              <a:gd name="adj" fmla="val 6667"/>
            </a:avLst>
          </a:prstGeom>
          <a:solidFill>
            <a:srgbClr val="3A2E23"/>
          </a:solidFill>
          <a:ln/>
        </p:spPr>
      </p:sp>
      <p:sp>
        <p:nvSpPr>
          <p:cNvPr id="16" name="Text 14"/>
          <p:cNvSpPr/>
          <p:nvPr/>
        </p:nvSpPr>
        <p:spPr>
          <a:xfrm>
            <a:off x="4572000" y="3273552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98A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Transitions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572000" y="3675888"/>
            <a:ext cx="30632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7F5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Framer Motion (crossfade)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8138160" y="3108960"/>
            <a:ext cx="3520440" cy="1371600"/>
          </a:xfrm>
          <a:prstGeom prst="roundRect">
            <a:avLst>
              <a:gd name="adj" fmla="val 6667"/>
            </a:avLst>
          </a:prstGeom>
          <a:solidFill>
            <a:srgbClr val="3A2E23"/>
          </a:solidFill>
          <a:ln/>
        </p:spPr>
      </p:sp>
      <p:sp>
        <p:nvSpPr>
          <p:cNvPr id="19" name="Text 17"/>
          <p:cNvSpPr/>
          <p:nvPr/>
        </p:nvSpPr>
        <p:spPr>
          <a:xfrm>
            <a:off x="8366760" y="3273552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98A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Automation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8366760" y="3675888"/>
            <a:ext cx="30632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7F5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n8n — playlist curation pipeline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548640" y="4846320"/>
            <a:ext cx="10881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E8C7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Playback model: Radio, not player — auto-advancing track queue per vibe, mute/unmute is the only user control.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8B2E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Build Roadmap — 1 Week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5D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scope: all 12 vibes, tuning-dial mechanic, curation pipeline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1005840" cy="457200"/>
          </a:xfrm>
          <a:prstGeom prst="roundRect">
            <a:avLst>
              <a:gd name="adj" fmla="val 16000"/>
            </a:avLst>
          </a:prstGeom>
          <a:solidFill>
            <a:srgbClr val="8B2E23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417320"/>
            <a:ext cx="1005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Day 1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737360" y="141732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B21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Foundation + Art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251960" y="1417320"/>
            <a:ext cx="7223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5D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Lock name/domain, define 6+ vibes, batch-generate scene art, deploy empty shell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48640" y="1984248"/>
            <a:ext cx="1005840" cy="457200"/>
          </a:xfrm>
          <a:prstGeom prst="roundRect">
            <a:avLst>
              <a:gd name="adj" fmla="val 16000"/>
            </a:avLst>
          </a:prstGeom>
          <a:solidFill>
            <a:srgbClr val="8B2E23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1984248"/>
            <a:ext cx="1005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Day 2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737360" y="1984248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B21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Core Tech Skeleton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251960" y="1984248"/>
            <a:ext cx="7223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5D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layout, Spotify SDK integration, Supabase presence, 1 vibe fully working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48640" y="2551176"/>
            <a:ext cx="1005840" cy="457200"/>
          </a:xfrm>
          <a:prstGeom prst="roundRect">
            <a:avLst>
              <a:gd name="adj" fmla="val 16000"/>
            </a:avLst>
          </a:prstGeom>
          <a:solidFill>
            <a:srgbClr val="8B2E23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2551176"/>
            <a:ext cx="1005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Day 3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737360" y="2551176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B21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Vibe Switching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251960" y="2551176"/>
            <a:ext cx="7223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5D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Tuning-dial mechanic, crossfade transitions, radio-static blip, wire all vibes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48640" y="3118104"/>
            <a:ext cx="1005840" cy="457200"/>
          </a:xfrm>
          <a:prstGeom prst="roundRect">
            <a:avLst>
              <a:gd name="adj" fmla="val 16000"/>
            </a:avLst>
          </a:prstGeom>
          <a:solidFill>
            <a:srgbClr val="8B2E23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3118104"/>
            <a:ext cx="1005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Day 4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737360" y="3118104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B21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Music Pipeline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251960" y="3118104"/>
            <a:ext cx="7223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5D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Audio-feature presets per vibe, n8n automation, curate &amp; QA playlists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548640" y="3685032"/>
            <a:ext cx="1005840" cy="457200"/>
          </a:xfrm>
          <a:prstGeom prst="roundRect">
            <a:avLst>
              <a:gd name="adj" fmla="val 16000"/>
            </a:avLst>
          </a:prstGeom>
          <a:solidFill>
            <a:srgbClr val="8B2E23"/>
          </a:solidFill>
          <a:ln/>
        </p:spPr>
      </p:sp>
      <p:sp>
        <p:nvSpPr>
          <p:cNvPr id="21" name="Text 19"/>
          <p:cNvSpPr/>
          <p:nvPr/>
        </p:nvSpPr>
        <p:spPr>
          <a:xfrm>
            <a:off x="548640" y="3685032"/>
            <a:ext cx="1005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Day 5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737360" y="3685032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B21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Remaining Scenes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251960" y="3685032"/>
            <a:ext cx="7223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5D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Finish all scene art, full integration pass, Spotify edge cases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548640" y="4251960"/>
            <a:ext cx="1005840" cy="457200"/>
          </a:xfrm>
          <a:prstGeom prst="roundRect">
            <a:avLst>
              <a:gd name="adj" fmla="val 16000"/>
            </a:avLst>
          </a:prstGeom>
          <a:solidFill>
            <a:srgbClr val="8B2E23"/>
          </a:solidFill>
          <a:ln/>
        </p:spPr>
      </p:sp>
      <p:sp>
        <p:nvSpPr>
          <p:cNvPr id="25" name="Text 23"/>
          <p:cNvSpPr/>
          <p:nvPr/>
        </p:nvSpPr>
        <p:spPr>
          <a:xfrm>
            <a:off x="548640" y="4251960"/>
            <a:ext cx="1005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Day 6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1737360" y="425196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B21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Polish &amp; QA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4251960" y="4251960"/>
            <a:ext cx="7223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5D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pass, cross-browser, image compression, OG tags, tip button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548640" y="4818888"/>
            <a:ext cx="1005840" cy="457200"/>
          </a:xfrm>
          <a:prstGeom prst="roundRect">
            <a:avLst>
              <a:gd name="adj" fmla="val 16000"/>
            </a:avLst>
          </a:prstGeom>
          <a:solidFill>
            <a:srgbClr val="8B2E23"/>
          </a:solidFill>
          <a:ln/>
        </p:spPr>
      </p:sp>
      <p:sp>
        <p:nvSpPr>
          <p:cNvPr id="29" name="Text 27"/>
          <p:cNvSpPr/>
          <p:nvPr/>
        </p:nvSpPr>
        <p:spPr>
          <a:xfrm>
            <a:off x="548640" y="4818888"/>
            <a:ext cx="1005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Day 7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1737360" y="4818888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B21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Launch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4251960" y="4818888"/>
            <a:ext cx="7223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5D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QA, deploy to domain, launch posts (Twitter/Reddit/Product Hunt)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8B2E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Monetization Paths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3520440" cy="1600200"/>
          </a:xfrm>
          <a:prstGeom prst="roundRect">
            <a:avLst>
              <a:gd name="adj" fmla="val 5714"/>
            </a:avLst>
          </a:prstGeom>
          <a:solidFill>
            <a:srgbClr val="F7F5F2"/>
          </a:solidFill>
          <a:ln w="12700">
            <a:solidFill>
              <a:srgbClr val="E5DED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49808" y="1536192"/>
            <a:ext cx="311810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B2E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Tip Jar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49808" y="1938528"/>
            <a:ext cx="3118104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B5D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"Buy me a chai" — low effort, on-brand, day-one viable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4343400" y="1371600"/>
            <a:ext cx="3520440" cy="1600200"/>
          </a:xfrm>
          <a:prstGeom prst="roundRect">
            <a:avLst>
              <a:gd name="adj" fmla="val 5714"/>
            </a:avLst>
          </a:prstGeom>
          <a:solidFill>
            <a:srgbClr val="F7F5F2"/>
          </a:solidFill>
          <a:ln w="12700">
            <a:solidFill>
              <a:srgbClr val="E5DED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44568" y="1536192"/>
            <a:ext cx="311810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B2E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Ad-Supported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44568" y="1938528"/>
            <a:ext cx="3118104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B5D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Radio-style ambient ads between vibe switches, once traffic grows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8138160" y="1371600"/>
            <a:ext cx="3520440" cy="1600200"/>
          </a:xfrm>
          <a:prstGeom prst="roundRect">
            <a:avLst>
              <a:gd name="adj" fmla="val 5714"/>
            </a:avLst>
          </a:prstGeom>
          <a:solidFill>
            <a:srgbClr val="F7F5F2"/>
          </a:solidFill>
          <a:ln w="12700">
            <a:solidFill>
              <a:srgbClr val="E5DED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339328" y="1536192"/>
            <a:ext cx="311810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B2E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Freemium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339328" y="1938528"/>
            <a:ext cx="3118104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B5D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vibe mixing, offline playlists, shareable private rooms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48640" y="3246120"/>
            <a:ext cx="3520440" cy="1600200"/>
          </a:xfrm>
          <a:prstGeom prst="roundRect">
            <a:avLst>
              <a:gd name="adj" fmla="val 5714"/>
            </a:avLst>
          </a:prstGeom>
          <a:solidFill>
            <a:srgbClr val="F7F5F2"/>
          </a:solidFill>
          <a:ln w="12700">
            <a:solidFill>
              <a:srgbClr val="E5DED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49808" y="3410712"/>
            <a:ext cx="311810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B2E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Sponsored Vibes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749808" y="3813048"/>
            <a:ext cx="3118104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B5D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Brands sponsor a scene (e.g. chai brand → Chai Tapri)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4343400" y="3246120"/>
            <a:ext cx="3520440" cy="1600200"/>
          </a:xfrm>
          <a:prstGeom prst="roundRect">
            <a:avLst>
              <a:gd name="adj" fmla="val 5714"/>
            </a:avLst>
          </a:prstGeom>
          <a:solidFill>
            <a:srgbClr val="F7F5F2"/>
          </a:solidFill>
          <a:ln w="12700">
            <a:solidFill>
              <a:srgbClr val="E5DED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44568" y="3410712"/>
            <a:ext cx="311810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B2E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Merch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544568" y="3813048"/>
            <a:ext cx="3118104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B5D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Print-on-demand posters of the illustrated scenes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8138160" y="3246120"/>
            <a:ext cx="3520440" cy="1600200"/>
          </a:xfrm>
          <a:prstGeom prst="roundRect">
            <a:avLst>
              <a:gd name="adj" fmla="val 5714"/>
            </a:avLst>
          </a:prstGeom>
          <a:solidFill>
            <a:srgbClr val="F7F5F2"/>
          </a:solidFill>
          <a:ln w="12700">
            <a:solidFill>
              <a:srgbClr val="E5DED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339328" y="3410712"/>
            <a:ext cx="311810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B2E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B2B Licensing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8339328" y="3813048"/>
            <a:ext cx="3118104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B5D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Turnkey ambiance product for cafes, salons, rave cafes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548640" y="5074920"/>
            <a:ext cx="10881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8B2E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B2B licensing needs a commercial music partner (e.g. Soundtrack Your Brand) — personal Spotify accounts can't be used for public/commercial playback.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2B2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98A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Naming Shortlist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554480"/>
            <a:ext cx="5349240" cy="1828800"/>
          </a:xfrm>
          <a:prstGeom prst="roundRect">
            <a:avLst>
              <a:gd name="adj" fmla="val 5000"/>
            </a:avLst>
          </a:prstGeom>
          <a:solidFill>
            <a:srgbClr val="3A2E23"/>
          </a:solidFill>
          <a:ln/>
        </p:spPr>
      </p:sp>
      <p:sp>
        <p:nvSpPr>
          <p:cNvPr id="4" name="Text 2"/>
          <p:cNvSpPr/>
          <p:nvPr/>
        </p:nvSpPr>
        <p:spPr>
          <a:xfrm>
            <a:off x="777240" y="1737360"/>
            <a:ext cx="4892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98A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Mehfil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77240" y="2240280"/>
            <a:ext cx="489204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7F5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gathering to enjoy music/poetry — literal &amp; historic fit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172200" y="1554480"/>
            <a:ext cx="5349240" cy="1828800"/>
          </a:xfrm>
          <a:prstGeom prst="roundRect">
            <a:avLst>
              <a:gd name="adj" fmla="val 5000"/>
            </a:avLst>
          </a:prstGeom>
          <a:solidFill>
            <a:srgbClr val="3A2E23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0" y="1737360"/>
            <a:ext cx="4892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98A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Mahaul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400800" y="2240280"/>
            <a:ext cx="489204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7F5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"Atmosphere/vibe" in everyday Hindi — captures the concept exactly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3657600"/>
            <a:ext cx="5349240" cy="1828800"/>
          </a:xfrm>
          <a:prstGeom prst="roundRect">
            <a:avLst>
              <a:gd name="adj" fmla="val 5000"/>
            </a:avLst>
          </a:prstGeom>
          <a:solidFill>
            <a:srgbClr val="3A2E23"/>
          </a:solidFill>
          <a:ln/>
        </p:spPr>
      </p:sp>
      <p:sp>
        <p:nvSpPr>
          <p:cNvPr id="10" name="Text 8"/>
          <p:cNvSpPr/>
          <p:nvPr/>
        </p:nvSpPr>
        <p:spPr>
          <a:xfrm>
            <a:off x="777240" y="3840480"/>
            <a:ext cx="4892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98A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Adda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777240" y="4343400"/>
            <a:ext cx="489204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7F5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Universally recognized hangout spot across India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172200" y="3657600"/>
            <a:ext cx="5349240" cy="1828800"/>
          </a:xfrm>
          <a:prstGeom prst="roundRect">
            <a:avLst>
              <a:gd name="adj" fmla="val 5000"/>
            </a:avLst>
          </a:prstGeom>
          <a:solidFill>
            <a:srgbClr val="3A2E23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0" y="3840480"/>
            <a:ext cx="4892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98A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Chaupal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6400800" y="4343400"/>
            <a:ext cx="489204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7F5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Village gathering square — the original "social media"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8B2E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4864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Next Steps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554480"/>
            <a:ext cx="1051560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Finalize app name &amp; register domain</a:t>
            </a:r>
            <a:endParaRPr lang="en-US" sz="18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final vibe list (6 vs 12 for v1)</a:t>
            </a:r>
            <a:endParaRPr lang="en-US" sz="18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 owners: art direction, frontend build, music curation</a:t>
            </a:r>
            <a:endParaRPr lang="en-US" sz="18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up Spotify Developer app + Supabase project</a:t>
            </a:r>
            <a:endParaRPr lang="en-US" sz="18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launch: end of this week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2026-08-10T08:25:15Z</dcterms:created>
  <dcterms:modified xsi:type="dcterms:W3CDTF">2026-08-10T08:25:15Z</dcterms:modified>
</cp:coreProperties>
</file>